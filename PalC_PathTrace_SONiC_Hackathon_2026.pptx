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7"/>
  </p:notesMasterIdLst>
  <p:sldIdLst>
    <p:sldId id="261" r:id="rId2"/>
    <p:sldId id="262" r:id="rId3"/>
    <p:sldId id="263" r:id="rId4"/>
    <p:sldId id="264" r:id="rId5"/>
    <p:sldId id="265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EE4E22-7933-109F-9A03-C36143437803}" v="86" dt="2026-10-01T13:38:34.332"/>
    <p1510:client id="{EB18169D-559B-6BFA-B8B9-F8E74E9FC498}" v="181" dt="2026-10-01T04:31:24.9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0:00-0:15. Introduce team, company and project. One line: PathTrace finds where a SONiC config stopped on its way to the ASIC.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0:15-0:55. You push a config; the CLI accepts it and CONFIG_DB has the row, yet traffic does not follow. Somewhere between CONFIG_DB and the ASIC the intent stopped. Today that means 20-40 minutes walking four Redis DBs and logs. YANG and config validate check well-formedness, not propagation.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0:55-1:55. One command. The intent is resolved through a declarative registry into the expected key per database; the walker finds the first present-to-absent break; the correlator extracts the SAI status from syslog; the explainer states root cause and next step. Three modes: trace, trace with dependencies, and audit. Strictly read-only.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1:45-3:05. Left: the pathtrace CLI and the show pathtrace plugin, shipped as a SONiC Application Extension. Middle: the read-only engine: resolver plus registry, walker plus ASIC matchers, correlator, explainer; the dependency and audit modes reuse the same walker. Right: the existing SONiC databases and syslog, read only.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3:50-4:00. State the status plainly: Completed for the tracer, registry, matching, deps, audit and SAE packaging. Mention the future extensions in one sentence. Q&amp;A: read-only always; multi-ASIC is a known gap; only route and BGP neighbor are hardware-verified so far.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0" y="0"/>
            <a:ext cx="9143956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45125" y="1870475"/>
            <a:ext cx="6712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 1 1">
  <p:cSld name="SECTION_HEADER_1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302075" y="177050"/>
            <a:ext cx="4352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9162D"/>
              </a:buClr>
              <a:buSzPts val="2300"/>
              <a:buNone/>
              <a:defRPr sz="2300">
                <a:solidFill>
                  <a:srgbClr val="09162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 idx="2"/>
          </p:nvPr>
        </p:nvSpPr>
        <p:spPr>
          <a:xfrm>
            <a:off x="302075" y="1405875"/>
            <a:ext cx="4352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9162D"/>
              </a:buClr>
              <a:buSzPts val="1800"/>
              <a:buNone/>
              <a:defRPr sz="1800">
                <a:solidFill>
                  <a:srgbClr val="09162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 1 1 1">
  <p:cSld name="SECTION_HEADER_1_1_1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302075" y="-76200"/>
            <a:ext cx="4352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00"/>
              <a:buNone/>
              <a:defRPr sz="23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idx="2"/>
          </p:nvPr>
        </p:nvSpPr>
        <p:spPr>
          <a:xfrm>
            <a:off x="302075" y="752625"/>
            <a:ext cx="43527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9162D"/>
              </a:buClr>
              <a:buSzPts val="1800"/>
              <a:buNone/>
              <a:defRPr sz="1800">
                <a:solidFill>
                  <a:srgbClr val="09162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29" name="Google Shape;2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173350" y="4678076"/>
            <a:ext cx="700825" cy="29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Ubuntu"/>
              <a:buNone/>
              <a:defRPr sz="2800">
                <a:solidFill>
                  <a:schemeClr val="dk1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Ubuntu"/>
              <a:buChar char="●"/>
              <a:defRPr sz="1800"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●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●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○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buntu"/>
              <a:buChar char="■"/>
              <a:defRPr>
                <a:solidFill>
                  <a:schemeClr val="dk2"/>
                </a:solidFill>
                <a:latin typeface="Ubuntu"/>
                <a:ea typeface="Ubuntu"/>
                <a:cs typeface="Ubuntu"/>
                <a:sym typeface="Ubuntu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6888" y="1417320"/>
            <a:ext cx="6949440" cy="914400"/>
          </a:xfrm>
        </p:spPr>
        <p:txBody>
          <a:bodyPr/>
          <a:lstStyle/>
          <a:p>
            <a:r>
              <a:t>PathTrace: Datapath Intent Tracing for SONiC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9184" y="1188720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F6FD6"/>
                </a:solidFill>
                <a:latin typeface="Arial"/>
              </a:rPr>
              <a:t>SONiC HACKATHON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" y="2606040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B6778"/>
                </a:solidFill>
                <a:latin typeface="Arial"/>
              </a:rPr>
              <a:t>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06040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9162D"/>
                </a:solidFill>
                <a:latin typeface="Arial"/>
              </a:rPr>
              <a:t>PathTrace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" y="2898648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B6778"/>
                </a:solidFill>
                <a:latin typeface="Arial"/>
              </a:rPr>
              <a:t>MEMBERS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98648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9162D"/>
                </a:solidFill>
                <a:latin typeface="Arial"/>
              </a:rPr>
              <a:t>Keerthi Kumar Thovi · Sandeep Kulambi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" y="3191256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 i="0">
                <a:solidFill>
                  <a:srgbClr val="5B6778"/>
                </a:solidFill>
                <a:latin typeface="Arial"/>
              </a:rPr>
              <a:t>COMPANY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191256"/>
            <a:ext cx="51206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09162D"/>
                </a:solidFill>
                <a:latin typeface="Arial"/>
              </a:rPr>
              <a:t>PalC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73736"/>
            <a:ext cx="5943600" cy="548640"/>
          </a:xfrm>
        </p:spPr>
        <p:txBody>
          <a:bodyPr/>
          <a:lstStyle/>
          <a:p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6766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B2635"/>
                </a:solidFill>
                <a:latin typeface="Arial"/>
              </a:rPr>
              <a:t>A SONiC config can be accepted, yet silently never reach the ASIC. Nothing errors, and the CLI and CONFIG_DB still show the object as present.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22225">
            <a:solidFill>
              <a:srgbClr val="2E9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4630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9162D"/>
                </a:solidFill>
                <a:latin typeface="Arial"/>
              </a:rPr>
              <a:t>CONFIG_DB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75564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2E9E68"/>
                </a:solidFill>
                <a:latin typeface="Arial"/>
              </a:rPr>
              <a:t>✓ present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98064" y="1728216"/>
            <a:ext cx="530352" cy="0"/>
          </a:xfrm>
          <a:prstGeom prst="line">
            <a:avLst/>
          </a:prstGeom>
          <a:ln w="1905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83279" y="137160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22225">
            <a:solidFill>
              <a:srgbClr val="2E9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83279" y="14630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9162D"/>
                </a:solidFill>
                <a:latin typeface="Arial"/>
              </a:rPr>
              <a:t>APPL_DB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75564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2E9E68"/>
                </a:solidFill>
                <a:latin typeface="Arial"/>
              </a:rPr>
              <a:t>✓ present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15583" y="1728216"/>
            <a:ext cx="530353" cy="0"/>
          </a:xfrm>
          <a:prstGeom prst="line">
            <a:avLst/>
          </a:prstGeom>
          <a:ln w="19050">
            <a:solidFill>
              <a:srgbClr val="5B677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1371600"/>
            <a:ext cx="23774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22225">
            <a:solidFill>
              <a:srgbClr val="D9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>
                <a:solidFill>
                  <a:srgbClr val="09162D"/>
                </a:solidFill>
                <a:latin typeface="Arial"/>
              </a:rPr>
              <a:t>ASIC_DB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55648"/>
            <a:ext cx="23774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D9484F"/>
                </a:solidFill>
                <a:latin typeface="Arial"/>
              </a:rPr>
              <a:t>✗ never programmed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57984"/>
            <a:ext cx="8412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5B6778"/>
                </a:solidFill>
                <a:latin typeface="Arial"/>
              </a:rPr>
              <a:t>Example: orchagent or syncd gets a SAI error while programming, so the config never reaches the ASIC, with no user-visible failure.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2560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93776" y="2688336"/>
            <a:ext cx="274320" cy="274320"/>
          </a:xfrm>
          <a:prstGeom prst="ellipse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" y="2670048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9162D"/>
                </a:solidFill>
                <a:latin typeface="Arial"/>
              </a:rPr>
              <a:t>Silent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" y="3054096"/>
            <a:ext cx="2441448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B2635"/>
                </a:solidFill>
                <a:latin typeface="Arial"/>
              </a:rPr>
              <a:t>The object looks configured everywhere an operator normally checks, so there is no error to start from and traffic is simply wrong.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23260" y="2560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351276" y="2688336"/>
            <a:ext cx="274320" cy="274320"/>
          </a:xfrm>
          <a:prstGeom prst="ellipse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17035" y="2670048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9162D"/>
                </a:solidFill>
                <a:latin typeface="Arial"/>
              </a:rPr>
              <a:t>Manual hunt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1276" y="3054096"/>
            <a:ext cx="2441448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D9484F"/>
                </a:solidFill>
                <a:latin typeface="Arial"/>
              </a:rPr>
              <a:t>20–40 min per incident.</a:t>
            </a:r>
          </a:p>
          <a:p>
            <a:pPr algn="l"/>
            <a:r>
              <a:rPr sz="1000" b="0" i="0">
                <a:solidFill>
                  <a:srgbClr val="1B2635"/>
                </a:solidFill>
                <a:latin typeface="Arial"/>
              </a:rPr>
              <a:t>Hand-walk four Redis databases across containers, then grep orchagent and syncd logs and match the SAI error to the object.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80760" y="2560320"/>
            <a:ext cx="2697480" cy="1325880"/>
          </a:xfrm>
          <a:prstGeom prst="roundRect">
            <a:avLst>
              <a:gd name="adj" fmla="val 5517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6208776" y="2688336"/>
            <a:ext cx="274320" cy="274320"/>
          </a:xfrm>
          <a:prstGeom prst="ellipse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74536" y="2670048"/>
            <a:ext cx="2093976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09162D"/>
                </a:solidFill>
                <a:latin typeface="Arial"/>
              </a:rPr>
              <a:t>Tooling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08776" y="3054096"/>
            <a:ext cx="2441448" cy="7589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B2635"/>
                </a:solidFill>
                <a:latin typeface="Arial"/>
              </a:rPr>
              <a:t>YANG and config validate check that configuration is well-formed, not whether it propagated to ASIC_DB and the silicon.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023360"/>
            <a:ext cx="8412480" cy="594360"/>
          </a:xfrm>
          <a:prstGeom prst="roundRect">
            <a:avLst>
              <a:gd name="adj" fmla="val 12307"/>
            </a:avLst>
          </a:prstGeom>
          <a:solidFill>
            <a:srgbClr val="09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023360"/>
            <a:ext cx="804672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i="0">
                <a:solidFill>
                  <a:srgbClr val="27A9D8"/>
                </a:solidFill>
                <a:latin typeface="Arial"/>
              </a:rPr>
              <a:t>PathTrace's answer: </a:t>
            </a:r>
            <a:r>
              <a:rPr sz="1100" b="0" i="0">
                <a:solidFill>
                  <a:srgbClr val="FFFFFF"/>
                </a:solidFill>
                <a:latin typeface="Arial"/>
              </a:rPr>
              <a:t>one command traces the object across the pipeline, pinpoints exactly where it broke, and explains why using the SAI error from syslog.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0"/>
            <a:ext cx="7315200" cy="658368"/>
          </a:xfrm>
        </p:spPr>
        <p:txBody>
          <a:bodyPr/>
          <a:lstStyle/>
          <a:p>
            <a:r>
              <a:t>Solution approach: one intent in, root cause 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60120"/>
            <a:ext cx="1536192" cy="1874519"/>
          </a:xfrm>
          <a:prstGeom prst="roundRect">
            <a:avLst>
              <a:gd name="adj" fmla="val 4761"/>
            </a:avLst>
          </a:prstGeom>
          <a:solidFill>
            <a:srgbClr val="EEF3F9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75488" y="1069848"/>
            <a:ext cx="310896" cy="310896"/>
          </a:xfrm>
          <a:prstGeom prst="ellipse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069848"/>
            <a:ext cx="9875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9162D"/>
                </a:solidFill>
                <a:latin typeface="Arial"/>
              </a:rPr>
              <a:t>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490472"/>
            <a:ext cx="131673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B2635"/>
                </a:solidFill>
                <a:latin typeface="Arial"/>
              </a:rPr>
              <a:t>One object, in plain words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423160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7A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1F6FD6"/>
                </a:solidFill>
                <a:latin typeface="Arial"/>
              </a:rPr>
              <a:t>vlan member 100 Ethernet0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20240" y="1847088"/>
            <a:ext cx="146304" cy="0"/>
          </a:xfrm>
          <a:prstGeom prst="line">
            <a:avLst/>
          </a:prstGeom>
          <a:ln w="25400">
            <a:solidFill>
              <a:srgbClr val="1F6F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084831" y="960120"/>
            <a:ext cx="1536192" cy="1874519"/>
          </a:xfrm>
          <a:prstGeom prst="roundRect">
            <a:avLst>
              <a:gd name="adj" fmla="val 4761"/>
            </a:avLst>
          </a:prstGeom>
          <a:solidFill>
            <a:srgbClr val="EEF3F9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194560" y="1069848"/>
            <a:ext cx="310896" cy="310896"/>
          </a:xfrm>
          <a:prstGeom prst="ellipse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1069848"/>
            <a:ext cx="9875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9162D"/>
                </a:solidFill>
                <a:latin typeface="Arial"/>
              </a:rPr>
              <a:t>Resolve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1490472"/>
            <a:ext cx="131673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B2635"/>
                </a:solidFill>
                <a:latin typeface="Arial"/>
              </a:rPr>
              <a:t>Registry maps the intent to the expected key in each database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194560" y="2423160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7A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1F6FD6"/>
                </a:solidFill>
                <a:latin typeface="Arial"/>
              </a:rPr>
              <a:t>object_types.yaml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39312" y="1847088"/>
            <a:ext cx="146304" cy="0"/>
          </a:xfrm>
          <a:prstGeom prst="line">
            <a:avLst/>
          </a:prstGeom>
          <a:ln w="25400">
            <a:solidFill>
              <a:srgbClr val="1F6F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03904" y="960120"/>
            <a:ext cx="1536192" cy="1874519"/>
          </a:xfrm>
          <a:prstGeom prst="roundRect">
            <a:avLst>
              <a:gd name="adj" fmla="val 4761"/>
            </a:avLst>
          </a:prstGeom>
          <a:solidFill>
            <a:srgbClr val="EEF3F9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913632" y="1069848"/>
            <a:ext cx="310896" cy="310896"/>
          </a:xfrm>
          <a:prstGeom prst="ellipse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069848"/>
            <a:ext cx="9875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9162D"/>
                </a:solidFill>
                <a:latin typeface="Arial"/>
              </a:rPr>
              <a:t>Walk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13632" y="1490472"/>
            <a:ext cx="131673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B2635"/>
                </a:solidFill>
                <a:latin typeface="Arial"/>
              </a:rPr>
              <a:t>Follow CONFIG → APPL → ASIC (plus STATE where status is reported). Find the first break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13632" y="2423160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7A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1F6FD6"/>
                </a:solidFill>
                <a:latin typeface="Arial"/>
              </a:rPr>
              <a:t>instance-level ASIC match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58383" y="1847088"/>
            <a:ext cx="146305" cy="0"/>
          </a:xfrm>
          <a:prstGeom prst="line">
            <a:avLst/>
          </a:prstGeom>
          <a:ln w="25400">
            <a:solidFill>
              <a:srgbClr val="1F6F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522976" y="960120"/>
            <a:ext cx="1536192" cy="1874519"/>
          </a:xfrm>
          <a:prstGeom prst="roundRect">
            <a:avLst>
              <a:gd name="adj" fmla="val 4761"/>
            </a:avLst>
          </a:prstGeom>
          <a:solidFill>
            <a:srgbClr val="EEF3F9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632704" y="1069848"/>
            <a:ext cx="310896" cy="310896"/>
          </a:xfrm>
          <a:prstGeom prst="ellipse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16752" y="1069848"/>
            <a:ext cx="9875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9162D"/>
                </a:solidFill>
                <a:latin typeface="Arial"/>
              </a:rPr>
              <a:t>Correlate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32704" y="1490472"/>
            <a:ext cx="131673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B2635"/>
                </a:solidFill>
                <a:latin typeface="Arial"/>
              </a:rPr>
              <a:t>Pull the orchagent / syncd log lines for that object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32704" y="2423160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7A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1F6FD6"/>
                </a:solidFill>
                <a:latin typeface="Arial"/>
              </a:rPr>
              <a:t>SAI_STATUS_* code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077455" y="1847088"/>
            <a:ext cx="146305" cy="0"/>
          </a:xfrm>
          <a:prstGeom prst="line">
            <a:avLst/>
          </a:prstGeom>
          <a:ln w="25400">
            <a:solidFill>
              <a:srgbClr val="1F6F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242048" y="960120"/>
            <a:ext cx="1536192" cy="1874519"/>
          </a:xfrm>
          <a:prstGeom prst="roundRect">
            <a:avLst>
              <a:gd name="adj" fmla="val 4761"/>
            </a:avLst>
          </a:prstGeom>
          <a:solidFill>
            <a:srgbClr val="EEF3F9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351775" y="1069848"/>
            <a:ext cx="310896" cy="310896"/>
          </a:xfrm>
          <a:prstGeom prst="ellipse">
            <a:avLst/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35824" y="1069848"/>
            <a:ext cx="98755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09162D"/>
                </a:solidFill>
                <a:latin typeface="Arial"/>
              </a:rPr>
              <a:t>Explain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51775" y="1490472"/>
            <a:ext cx="1316736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 i="0">
                <a:solidFill>
                  <a:srgbClr val="1B2635"/>
                </a:solidFill>
                <a:latin typeface="Arial"/>
              </a:rPr>
              <a:t>Plain-language root cause and next step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51775" y="2423160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7A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1F6FD6"/>
                </a:solidFill>
                <a:latin typeface="Arial"/>
              </a:rPr>
              <a:t>rule-based, deterministic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3017520"/>
            <a:ext cx="5486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5B6778"/>
                </a:solidFill>
                <a:latin typeface="Arial"/>
              </a:rPr>
              <a:t>THREE WAYS TO USE IT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3250692"/>
            <a:ext cx="2705100" cy="10744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3776" y="3346704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9162D"/>
                </a:solidFill>
                <a:latin typeface="Arial"/>
              </a:rPr>
              <a:t>Trace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47672" y="3364992"/>
            <a:ext cx="987552" cy="219456"/>
          </a:xfrm>
          <a:prstGeom prst="roundRect">
            <a:avLst>
              <a:gd name="adj" fmla="val 50000"/>
            </a:avLst>
          </a:prstGeom>
          <a:solidFill>
            <a:srgbClr val="09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--intent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" y="3657600"/>
            <a:ext cx="24414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B2635"/>
                </a:solidFill>
                <a:latin typeface="Arial"/>
              </a:rPr>
              <a:t>Where did this one object stop, and why?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223260" y="3250692"/>
            <a:ext cx="2720340" cy="10744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351276" y="3346704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9162D"/>
                </a:solidFill>
                <a:latin typeface="Arial"/>
              </a:rPr>
              <a:t>Dependencies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805172" y="3364992"/>
            <a:ext cx="987552" cy="219456"/>
          </a:xfrm>
          <a:prstGeom prst="roundRect">
            <a:avLst>
              <a:gd name="adj" fmla="val 50000"/>
            </a:avLst>
          </a:prstGeom>
          <a:solidFill>
            <a:srgbClr val="09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--deps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51276" y="3657600"/>
            <a:ext cx="2441448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B2635"/>
                </a:solidFill>
                <a:latin typeface="Arial"/>
              </a:rPr>
              <a:t>Did it fail itself, or because something it depends on failed? Names the root cause.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80760" y="3250692"/>
            <a:ext cx="2697480" cy="10744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208776" y="3346704"/>
            <a:ext cx="1508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09162D"/>
                </a:solidFill>
                <a:latin typeface="Arial"/>
              </a:rPr>
              <a:t>Audit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85532" y="3364992"/>
            <a:ext cx="987552" cy="219456"/>
          </a:xfrm>
          <a:prstGeom prst="roundRect">
            <a:avLst>
              <a:gd name="adj" fmla="val 50000"/>
            </a:avLst>
          </a:prstGeom>
          <a:solidFill>
            <a:srgbClr val="09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--audit TYPE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85916" y="3581400"/>
            <a:ext cx="2441448" cy="438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0">
                <a:solidFill>
                  <a:srgbClr val="1B2635"/>
                </a:solidFill>
                <a:latin typeface="Arial"/>
              </a:rPr>
              <a:t>Sweep every configured object of a type and list the ones that never reached the ASIC.</a:t>
            </a:r>
          </a:p>
          <a:p>
            <a:endParaRPr lang="en-GB" sz="950">
              <a:solidFill>
                <a:srgbClr val="1B2635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65760" y="4389120"/>
            <a:ext cx="84124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09162D"/>
                </a:solidFill>
                <a:latin typeface="Arial"/>
              </a:rPr>
              <a:t>Read-only</a:t>
            </a:r>
            <a:r>
              <a:rPr sz="1000" b="0" i="0">
                <a:solidFill>
                  <a:srgbClr val="5B6778"/>
                </a:solidFill>
                <a:latin typeface="Arial"/>
              </a:rPr>
              <a:t> · reads existing Redis state and syslog only · no new SAI objects · runs on SONiC VS and hardware · deterministic (AI explanation is a future option)</a:t>
            </a:r>
          </a:p>
        </p:txBody>
      </p:sp>
      <p:sp>
        <p:nvSpPr>
          <p:cNvPr id="46" name="Rounded Rectangle 24">
            <a:extLst>
              <a:ext uri="{FF2B5EF4-FFF2-40B4-BE49-F238E27FC236}">
                <a16:creationId xmlns:a16="http://schemas.microsoft.com/office/drawing/2014/main" id="{F5988A1B-505E-89F6-288F-F0EE42982F3B}"/>
              </a:ext>
            </a:extLst>
          </p:cNvPr>
          <p:cNvSpPr/>
          <p:nvPr/>
        </p:nvSpPr>
        <p:spPr>
          <a:xfrm>
            <a:off x="6585204" y="4038600"/>
            <a:ext cx="1316736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7A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171450" indent="-171450" algn="ctr">
              <a:buFont typeface="Calibri"/>
              <a:buChar char="-"/>
            </a:pPr>
            <a:r>
              <a:rPr lang="en-US" sz="800" b="1">
                <a:solidFill>
                  <a:srgbClr val="1F6FD6"/>
                </a:solidFill>
                <a:latin typeface="Arial"/>
              </a:rPr>
              <a:t>Operator Advantage</a:t>
            </a:r>
            <a:endParaRPr lang="en-US">
              <a:cs typeface="Arial"/>
            </a:endParaRPr>
          </a:p>
        </p:txBody>
      </p:sp>
      <p:sp>
        <p:nvSpPr>
          <p:cNvPr id="47" name="Rounded Rectangle 24">
            <a:extLst>
              <a:ext uri="{FF2B5EF4-FFF2-40B4-BE49-F238E27FC236}">
                <a16:creationId xmlns:a16="http://schemas.microsoft.com/office/drawing/2014/main" id="{36452F45-8B08-2EF0-779E-8B91291205BC}"/>
              </a:ext>
            </a:extLst>
          </p:cNvPr>
          <p:cNvSpPr/>
          <p:nvPr/>
        </p:nvSpPr>
        <p:spPr>
          <a:xfrm>
            <a:off x="3422904" y="4023359"/>
            <a:ext cx="2078736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7A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171450" indent="-171450" algn="ctr">
              <a:buFont typeface="Calibri"/>
              <a:buChar char="-"/>
            </a:pPr>
            <a:r>
              <a:rPr lang="en-US" sz="800" b="1">
                <a:solidFill>
                  <a:srgbClr val="1F6FD6"/>
                </a:solidFill>
                <a:cs typeface="Arial"/>
              </a:rPr>
              <a:t>Developer / QA Engineer Advantage</a:t>
            </a:r>
          </a:p>
        </p:txBody>
      </p:sp>
      <p:sp>
        <p:nvSpPr>
          <p:cNvPr id="49" name="Rounded Rectangle 24">
            <a:extLst>
              <a:ext uri="{FF2B5EF4-FFF2-40B4-BE49-F238E27FC236}">
                <a16:creationId xmlns:a16="http://schemas.microsoft.com/office/drawing/2014/main" id="{A3B39D0A-4651-06B5-C3BD-DAF95BA4481C}"/>
              </a:ext>
            </a:extLst>
          </p:cNvPr>
          <p:cNvSpPr/>
          <p:nvPr/>
        </p:nvSpPr>
        <p:spPr>
          <a:xfrm>
            <a:off x="557784" y="4008119"/>
            <a:ext cx="2078736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27A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171450" indent="-171450" algn="ctr">
              <a:buFont typeface="Calibri"/>
              <a:buChar char="-"/>
            </a:pPr>
            <a:r>
              <a:rPr lang="en-US" sz="800" b="1">
                <a:solidFill>
                  <a:srgbClr val="1F6FD6"/>
                </a:solidFill>
                <a:cs typeface="Arial"/>
              </a:rPr>
              <a:t>Developer / QA Engineer Advantage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0"/>
            <a:ext cx="7315200" cy="658368"/>
          </a:xfrm>
        </p:spPr>
        <p:txBody>
          <a:bodyPr/>
          <a:lstStyle/>
          <a:p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914400"/>
            <a:ext cx="1691640" cy="3611880"/>
          </a:xfrm>
          <a:prstGeom prst="roundRect">
            <a:avLst>
              <a:gd name="adj" fmla="val 4324"/>
            </a:avLst>
          </a:prstGeom>
          <a:solidFill>
            <a:srgbClr val="EEF3F9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87552"/>
            <a:ext cx="16916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B6778"/>
                </a:solidFill>
                <a:latin typeface="Arial"/>
              </a:rPr>
              <a:t>INTERFACE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" y="1325880"/>
            <a:ext cx="147218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A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1417320"/>
            <a:ext cx="14721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9162D"/>
                </a:solidFill>
                <a:latin typeface="Arial"/>
              </a:rPr>
              <a:t>pathtrace CLI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09928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778"/>
                </a:solidFill>
                <a:latin typeface="Arial"/>
              </a:rPr>
              <a:t>--intent  --deps</a:t>
            </a:r>
          </a:p>
          <a:p>
            <a:pPr algn="ctr"/>
            <a:r>
              <a:rPr sz="850" b="0" i="0">
                <a:solidFill>
                  <a:srgbClr val="5B6778"/>
                </a:solidFill>
                <a:latin typeface="Arial"/>
              </a:rPr>
              <a:t>--audit  --json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2377439"/>
            <a:ext cx="147218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A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75488" y="2468879"/>
            <a:ext cx="14721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9162D"/>
                </a:solidFill>
                <a:latin typeface="Arial"/>
              </a:rPr>
              <a:t>show pathtrace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61487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778"/>
                </a:solidFill>
                <a:latin typeface="Arial"/>
              </a:rPr>
              <a:t>SONiC CLI plugin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3429000"/>
            <a:ext cx="1472184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27A9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5488" y="3520440"/>
            <a:ext cx="14721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09162D"/>
                </a:solidFill>
                <a:latin typeface="Arial"/>
              </a:rPr>
              <a:t>SAE package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813048"/>
            <a:ext cx="1325880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B6778"/>
                </a:solidFill>
                <a:latin typeface="Arial"/>
              </a:rPr>
              <a:t>manifest · </a:t>
            </a:r>
            <a:r>
              <a:rPr sz="850" b="0" i="0" err="1">
                <a:solidFill>
                  <a:srgbClr val="5B6778"/>
                </a:solidFill>
                <a:latin typeface="Arial"/>
              </a:rPr>
              <a:t>Dockerfile</a:t>
            </a:r>
            <a:r>
              <a:rPr sz="850" b="0" i="0">
                <a:solidFill>
                  <a:srgbClr val="5B6778"/>
                </a:solidFill>
                <a:latin typeface="Arial"/>
              </a:rPr>
              <a:t> · sonic-package-manager</a:t>
            </a:r>
            <a:r>
              <a:rPr lang="en-GB" sz="850">
                <a:solidFill>
                  <a:srgbClr val="5B6778"/>
                </a:solidFill>
              </a:rPr>
              <a:t> (framework for future)</a:t>
            </a:r>
            <a:endParaRPr sz="850" b="0" i="0">
              <a:solidFill>
                <a:srgbClr val="5B6778"/>
              </a:solidFill>
              <a:latin typeface="Arial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423160" y="914400"/>
            <a:ext cx="434340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9050">
            <a:solidFill>
              <a:srgbClr val="1F6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423160" y="987552"/>
            <a:ext cx="4343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1F6FD6"/>
                </a:solidFill>
                <a:latin typeface="Arial"/>
              </a:rPr>
              <a:t>PATHTRACE ENGINE (read-only)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42032" y="1325880"/>
            <a:ext cx="941832" cy="868680"/>
          </a:xfrm>
          <a:prstGeom prst="roundRect">
            <a:avLst>
              <a:gd name="adj" fmla="val 8421"/>
            </a:avLst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42032" y="1417320"/>
            <a:ext cx="941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Resolver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173736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DCE8FA"/>
                </a:solidFill>
                <a:latin typeface="Arial"/>
              </a:rPr>
              <a:t>intent → keys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012948" y="2212848"/>
            <a:ext cx="0" cy="237743"/>
          </a:xfrm>
          <a:prstGeom prst="line">
            <a:avLst/>
          </a:prstGeom>
          <a:ln w="15875">
            <a:solidFill>
              <a:srgbClr val="5B677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542032" y="2468880"/>
            <a:ext cx="941832" cy="1051560"/>
          </a:xfrm>
          <a:prstGeom prst="roundRect">
            <a:avLst>
              <a:gd name="adj" fmla="val 7766"/>
            </a:avLst>
          </a:prstGeom>
          <a:solidFill>
            <a:srgbClr val="EEF3F9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587751" y="2542032"/>
            <a:ext cx="850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09162D"/>
                </a:solidFill>
                <a:latin typeface="Arial"/>
              </a:rPr>
              <a:t>Object registry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96896" y="2816352"/>
            <a:ext cx="832104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 err="1">
                <a:solidFill>
                  <a:srgbClr val="1B2635"/>
                </a:solidFill>
                <a:latin typeface="Arial"/>
              </a:rPr>
              <a:t>object_types.yaml</a:t>
            </a:r>
            <a:r>
              <a:rPr sz="800" b="0" i="0">
                <a:solidFill>
                  <a:srgbClr val="1B2635"/>
                </a:solidFill>
                <a:latin typeface="Arial"/>
              </a:rPr>
              <a:t> · types · </a:t>
            </a:r>
            <a:r>
              <a:rPr sz="800" b="0" i="0" err="1">
                <a:solidFill>
                  <a:srgbClr val="1B2635"/>
                </a:solidFill>
                <a:latin typeface="Arial"/>
              </a:rPr>
              <a:t>depends_on</a:t>
            </a:r>
            <a:endParaRPr lang="en-US" sz="800" b="0" i="0" err="1">
              <a:solidFill>
                <a:srgbClr val="1B2635"/>
              </a:solidFill>
              <a:latin typeface="Arial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3493007" y="1755648"/>
            <a:ext cx="73153" cy="0"/>
          </a:xfrm>
          <a:prstGeom prst="line">
            <a:avLst/>
          </a:prstGeom>
          <a:ln w="22225">
            <a:solidFill>
              <a:srgbClr val="1F6F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575304" y="1325880"/>
            <a:ext cx="941832" cy="868680"/>
          </a:xfrm>
          <a:prstGeom prst="roundRect">
            <a:avLst>
              <a:gd name="adj" fmla="val 8421"/>
            </a:avLst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75304" y="1417320"/>
            <a:ext cx="941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Walker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11880" y="173736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DCE8FA"/>
                </a:solidFill>
                <a:latin typeface="Arial"/>
              </a:rPr>
              <a:t>DB layers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046220" y="2212848"/>
            <a:ext cx="0" cy="237743"/>
          </a:xfrm>
          <a:prstGeom prst="line">
            <a:avLst/>
          </a:prstGeom>
          <a:ln w="15875">
            <a:solidFill>
              <a:srgbClr val="5B677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3575304" y="2468880"/>
            <a:ext cx="941832" cy="1051560"/>
          </a:xfrm>
          <a:prstGeom prst="roundRect">
            <a:avLst>
              <a:gd name="adj" fmla="val 7766"/>
            </a:avLst>
          </a:prstGeom>
          <a:solidFill>
            <a:srgbClr val="EEF3F9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21024" y="2542032"/>
            <a:ext cx="850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09162D"/>
                </a:solidFill>
                <a:latin typeface="Arial"/>
              </a:rPr>
              <a:t>ASIC matchers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0168" y="2816352"/>
            <a:ext cx="832104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1B2635"/>
                </a:solidFill>
                <a:latin typeface="Arial"/>
              </a:rPr>
              <a:t>key · </a:t>
            </a:r>
            <a:endParaRPr lang="en-US" sz="800" b="0" i="0">
              <a:solidFill>
                <a:srgbClr val="1B2635"/>
              </a:solidFill>
              <a:latin typeface="Arial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4526280" y="1755648"/>
            <a:ext cx="73152" cy="0"/>
          </a:xfrm>
          <a:prstGeom prst="line">
            <a:avLst/>
          </a:prstGeom>
          <a:ln w="22225">
            <a:solidFill>
              <a:srgbClr val="1F6F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608576" y="1325880"/>
            <a:ext cx="941832" cy="868680"/>
          </a:xfrm>
          <a:prstGeom prst="roundRect">
            <a:avLst>
              <a:gd name="adj" fmla="val 8421"/>
            </a:avLst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08576" y="1417320"/>
            <a:ext cx="941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Correlator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45152" y="173736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DCE8FA"/>
                </a:solidFill>
                <a:latin typeface="Arial"/>
              </a:rPr>
              <a:t>syslog lines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079492" y="2212848"/>
            <a:ext cx="0" cy="237743"/>
          </a:xfrm>
          <a:prstGeom prst="line">
            <a:avLst/>
          </a:prstGeom>
          <a:ln w="15875">
            <a:solidFill>
              <a:srgbClr val="5B677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08576" y="2468880"/>
            <a:ext cx="941832" cy="1051560"/>
          </a:xfrm>
          <a:prstGeom prst="roundRect">
            <a:avLst>
              <a:gd name="adj" fmla="val 7766"/>
            </a:avLst>
          </a:prstGeom>
          <a:solidFill>
            <a:srgbClr val="EEF3F9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54296" y="2542032"/>
            <a:ext cx="850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09162D"/>
                </a:solidFill>
                <a:latin typeface="Arial"/>
              </a:rPr>
              <a:t>SAI status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2816352"/>
            <a:ext cx="83210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1B2635"/>
                </a:solidFill>
                <a:latin typeface="Arial"/>
              </a:rPr>
              <a:t>SAI_STATUS_* from orchagent / syncd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559552" y="1755648"/>
            <a:ext cx="73152" cy="0"/>
          </a:xfrm>
          <a:prstGeom prst="line">
            <a:avLst/>
          </a:prstGeom>
          <a:ln w="22225">
            <a:solidFill>
              <a:srgbClr val="1F6F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5641848" y="1325880"/>
            <a:ext cx="941832" cy="868680"/>
          </a:xfrm>
          <a:prstGeom prst="roundRect">
            <a:avLst>
              <a:gd name="adj" fmla="val 8421"/>
            </a:avLst>
          </a:prstGeom>
          <a:solidFill>
            <a:srgbClr val="1F6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641848" y="1417320"/>
            <a:ext cx="94183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Arial"/>
              </a:rPr>
              <a:t>Explainer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78424" y="1737360"/>
            <a:ext cx="868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DCE8FA"/>
                </a:solidFill>
                <a:latin typeface="Arial"/>
              </a:rPr>
              <a:t>cause + next step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112764" y="2212848"/>
            <a:ext cx="0" cy="237743"/>
          </a:xfrm>
          <a:prstGeom prst="line">
            <a:avLst/>
          </a:prstGeom>
          <a:ln w="15875">
            <a:solidFill>
              <a:srgbClr val="5B6778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5641848" y="2468880"/>
            <a:ext cx="941832" cy="1051560"/>
          </a:xfrm>
          <a:prstGeom prst="roundRect">
            <a:avLst>
              <a:gd name="adj" fmla="val 7766"/>
            </a:avLst>
          </a:prstGeom>
          <a:solidFill>
            <a:srgbClr val="EEF3F9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687568" y="2542032"/>
            <a:ext cx="85039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09162D"/>
                </a:solidFill>
                <a:latin typeface="Arial"/>
              </a:rPr>
              <a:t>Rules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96712" y="2816352"/>
            <a:ext cx="832104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00" b="0" i="0">
                <a:solidFill>
                  <a:srgbClr val="1B2635"/>
                </a:solidFill>
                <a:latin typeface="Arial"/>
              </a:rPr>
              <a:t>deterministic, no inference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2542032" y="3703320"/>
            <a:ext cx="4105656" cy="676656"/>
          </a:xfrm>
          <a:prstGeom prst="roundRect">
            <a:avLst>
              <a:gd name="adj" fmla="val 10810"/>
            </a:avLst>
          </a:prstGeom>
          <a:solidFill>
            <a:srgbClr val="0916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542032" y="3767328"/>
            <a:ext cx="41056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Modes built on the same walker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42032" y="4041648"/>
            <a:ext cx="4105656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DCE8FA"/>
                </a:solidFill>
                <a:latin typeface="Arial"/>
              </a:rPr>
              <a:t>trace · --deps dependency graph (root cause) · --audit sweep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32320" y="914400"/>
            <a:ext cx="1645920" cy="3611880"/>
          </a:xfrm>
          <a:prstGeom prst="roundRect">
            <a:avLst>
              <a:gd name="adj" fmla="val 4444"/>
            </a:avLst>
          </a:prstGeom>
          <a:solidFill>
            <a:srgbClr val="EEF3F9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132320" y="987552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>
                <a:solidFill>
                  <a:srgbClr val="5B6778"/>
                </a:solidFill>
                <a:latin typeface="Arial"/>
              </a:rPr>
              <a:t>SONiC STATE (read-only)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223760" y="1298448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278624" y="134416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9162D"/>
                </a:solidFill>
                <a:latin typeface="Arial"/>
              </a:rPr>
              <a:t>CONFIG_DB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78624" y="154533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778"/>
                </a:solidFill>
                <a:latin typeface="Arial"/>
              </a:rPr>
              <a:t>intent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223760" y="1828800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7278624" y="1874519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9162D"/>
                </a:solidFill>
                <a:latin typeface="Arial"/>
              </a:rPr>
              <a:t>APPL_DB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78624" y="2075688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778"/>
                </a:solidFill>
                <a:latin typeface="Arial"/>
              </a:rPr>
              <a:t>handed to orchagent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23760" y="2359152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278624" y="2404872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9162D"/>
                </a:solidFill>
                <a:latin typeface="Arial"/>
              </a:rPr>
              <a:t>STATE_DB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278624" y="2606040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778"/>
                </a:solidFill>
                <a:latin typeface="Arial"/>
              </a:rPr>
              <a:t>status feedback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223760" y="2889503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948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278624" y="2935223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9162D"/>
                </a:solidFill>
                <a:latin typeface="Arial"/>
              </a:rPr>
              <a:t>ASIC_DB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278624" y="3136391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778"/>
                </a:solidFill>
                <a:latin typeface="Arial"/>
              </a:rPr>
              <a:t>SAI objects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7223760" y="3419856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278624" y="3465575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9162D"/>
                </a:solidFill>
                <a:latin typeface="Arial"/>
              </a:rPr>
              <a:t>COUNTERS_DB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78624" y="3666744"/>
            <a:ext cx="1371600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GB" sz="750">
                <a:solidFill>
                  <a:srgbClr val="5B6778"/>
                </a:solidFill>
              </a:rPr>
              <a:t>counter</a:t>
            </a:r>
            <a:r>
              <a:rPr sz="750" b="0" i="0">
                <a:solidFill>
                  <a:srgbClr val="5B6778"/>
                </a:solidFill>
                <a:latin typeface="Arial"/>
              </a:rPr>
              <a:t> map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223760" y="3950208"/>
            <a:ext cx="14630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278624" y="3995928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09162D"/>
                </a:solidFill>
                <a:latin typeface="Arial"/>
              </a:rPr>
              <a:t>syslog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278624" y="4197096"/>
            <a:ext cx="1371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 i="0">
                <a:solidFill>
                  <a:srgbClr val="5B6778"/>
                </a:solidFill>
                <a:latin typeface="Arial"/>
              </a:rPr>
              <a:t>orchagent · syncd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2075688" y="2715768"/>
            <a:ext cx="329184" cy="0"/>
          </a:xfrm>
          <a:prstGeom prst="line">
            <a:avLst/>
          </a:prstGeom>
          <a:ln w="25400">
            <a:solidFill>
              <a:srgbClr val="1F6FD6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84848" y="2715768"/>
            <a:ext cx="329184" cy="0"/>
          </a:xfrm>
          <a:prstGeom prst="line">
            <a:avLst/>
          </a:prstGeom>
          <a:ln w="25400">
            <a:solidFill>
              <a:srgbClr val="1F6FD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9162D"/>
                </a:solidFill>
              </a:rPr>
              <a:t>What's new for SONiC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097280"/>
            <a:ext cx="484632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buClr>
                <a:srgbClr val="1F6FD6"/>
              </a:buClr>
              <a:buChar char="•"/>
            </a:pPr>
            <a:r>
              <a:rPr sz="1100" b="0" i="0">
                <a:solidFill>
                  <a:srgbClr val="1B2635"/>
                </a:solidFill>
                <a:latin typeface="Arial"/>
              </a:rPr>
              <a:t>A read-only tool that localizes where a config stopped between CONFIG_DB and silicon</a:t>
            </a:r>
          </a:p>
          <a:p>
            <a:pPr marL="171450" indent="-171450" algn="l">
              <a:spcBef>
                <a:spcPts val="500"/>
              </a:spcBef>
              <a:buClr>
                <a:srgbClr val="1F6FD6"/>
              </a:buClr>
              <a:buChar char="•"/>
            </a:pPr>
            <a:r>
              <a:rPr sz="1100" b="0" i="0">
                <a:solidFill>
                  <a:srgbClr val="1B2635"/>
                </a:solidFill>
                <a:latin typeface="Arial"/>
              </a:rPr>
              <a:t>Correlated SAI / syslog evidence for the root cause</a:t>
            </a:r>
          </a:p>
          <a:p>
            <a:pPr marL="171450" indent="-171450" algn="l">
              <a:spcBef>
                <a:spcPts val="500"/>
              </a:spcBef>
              <a:buClr>
                <a:srgbClr val="1F6FD6"/>
              </a:buClr>
              <a:buChar char="•"/>
            </a:pPr>
            <a:r>
              <a:rPr sz="1100" b="0" i="0">
                <a:solidFill>
                  <a:srgbClr val="1B2635"/>
                </a:solidFill>
                <a:latin typeface="Arial"/>
              </a:rPr>
              <a:t>Instance-level matching, --deps root-cause tracing and --audit sweeps</a:t>
            </a:r>
          </a:p>
          <a:p>
            <a:pPr marL="171450" indent="-171450" algn="l">
              <a:spcBef>
                <a:spcPts val="500"/>
              </a:spcBef>
              <a:buClr>
                <a:srgbClr val="1F6FD6"/>
              </a:buClr>
              <a:buChar char="•"/>
            </a:pPr>
            <a:r>
              <a:rPr sz="1100" b="0" i="0">
                <a:solidFill>
                  <a:srgbClr val="1B2635"/>
                </a:solidFill>
                <a:latin typeface="Arial"/>
              </a:rPr>
              <a:t>Declarative registry, extensible by YAML · SONiC Application Extension with native show CLI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2788920"/>
            <a:ext cx="32918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000" b="1" i="0">
                <a:solidFill>
                  <a:srgbClr val="1F6FD6"/>
                </a:solidFill>
                <a:latin typeface="Arial"/>
              </a:rPr>
              <a:t>Future extensions  </a:t>
            </a:r>
            <a:r>
              <a:rPr sz="1000" b="0" i="0">
                <a:solidFill>
                  <a:srgbClr val="5B6778"/>
                </a:solidFill>
                <a:latin typeface="Arial"/>
              </a:rPr>
              <a:t>feature validators on the same engine · </a:t>
            </a:r>
            <a:r>
              <a:rPr lang="en-GB" sz="1000">
                <a:solidFill>
                  <a:srgbClr val="5B6778"/>
                </a:solidFill>
              </a:rPr>
              <a:t>suitable for Operator's usage. AI inferencing.  </a:t>
            </a:r>
            <a:endParaRPr sz="1000" b="0" i="0">
              <a:solidFill>
                <a:srgbClr val="5B6778"/>
              </a:solidFill>
              <a:latin typeface="Arial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365760" y="3017520"/>
            <a:ext cx="4892040" cy="502920"/>
          </a:xfrm>
          <a:prstGeom prst="roundRect">
            <a:avLst>
              <a:gd name="adj" fmla="val 14545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75488" y="3130480"/>
            <a:ext cx="47091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1" i="0">
                <a:solidFill>
                  <a:srgbClr val="09162D"/>
                </a:solidFill>
                <a:latin typeface="Arial"/>
              </a:rPr>
              <a:t>Before the hackathon: </a:t>
            </a:r>
            <a:r>
              <a:rPr lang="en-GB" sz="900">
                <a:solidFill>
                  <a:srgbClr val="1B2635"/>
                </a:solidFill>
              </a:rPr>
              <a:t>concept &amp; design reference documents</a:t>
            </a:r>
            <a:r>
              <a:rPr sz="900" b="0" i="0">
                <a:solidFill>
                  <a:srgbClr val="1B2635"/>
                </a:solidFill>
                <a:latin typeface="Arial"/>
              </a:rPr>
              <a:t>.  </a:t>
            </a:r>
            <a:r>
              <a:rPr sz="900" b="1" i="0">
                <a:solidFill>
                  <a:srgbClr val="1F6FD6"/>
                </a:solidFill>
                <a:latin typeface="Arial"/>
              </a:rPr>
              <a:t>Built this week: </a:t>
            </a:r>
            <a:r>
              <a:rPr sz="900" b="0" i="0">
                <a:solidFill>
                  <a:srgbClr val="1B2635"/>
                </a:solidFill>
                <a:latin typeface="Arial"/>
              </a:rPr>
              <a:t>tracer, instance-level matching, --deps, --audit, SAE package.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097280"/>
            <a:ext cx="3291840" cy="1600200"/>
          </a:xfrm>
          <a:prstGeom prst="roundRect">
            <a:avLst>
              <a:gd name="adj" fmla="val 4571"/>
            </a:avLst>
          </a:prstGeom>
          <a:solidFill>
            <a:srgbClr val="EEF3F9"/>
          </a:solidFill>
          <a:ln w="12700">
            <a:solidFill>
              <a:srgbClr val="C9D5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623560" y="1170432"/>
            <a:ext cx="30175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778"/>
                </a:solidFill>
                <a:latin typeface="Arial"/>
              </a:rPr>
              <a:t>LINKS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23560" y="1417320"/>
            <a:ext cx="3017520" cy="90024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09162D"/>
                </a:solidFill>
                <a:latin typeface="Arial"/>
              </a:rPr>
              <a:t>Repo</a:t>
            </a:r>
          </a:p>
          <a:p>
            <a:pPr algn="l">
              <a:spcBef>
                <a:spcPts val="300"/>
              </a:spcBef>
            </a:pPr>
            <a:r>
              <a:rPr sz="1100" b="0" i="0" dirty="0">
                <a:solidFill>
                  <a:srgbClr val="1F6FD6"/>
                </a:solidFill>
                <a:latin typeface="Arial"/>
              </a:rPr>
              <a:t>[</a:t>
            </a:r>
            <a:r>
              <a:rPr lang="en-US" sz="1100" dirty="0">
                <a:solidFill>
                  <a:srgbClr val="1F6FD6"/>
                </a:solidFill>
              </a:rPr>
              <a:t>https://github.com/palcnetworks/Path-Trace</a:t>
            </a:r>
            <a:r>
              <a:rPr sz="1100" b="0" i="0" dirty="0">
                <a:solidFill>
                  <a:srgbClr val="1F6FD6"/>
                </a:solidFill>
                <a:latin typeface="Arial"/>
              </a:rPr>
              <a:t>]</a:t>
            </a:r>
          </a:p>
          <a:p>
            <a:pPr algn="l">
              <a:spcBef>
                <a:spcPts val="300"/>
              </a:spcBef>
            </a:pPr>
            <a:r>
              <a:rPr sz="1100" b="1" i="0" dirty="0">
                <a:solidFill>
                  <a:srgbClr val="09162D"/>
                </a:solidFill>
                <a:latin typeface="Arial"/>
              </a:rPr>
              <a:t>Design doc</a:t>
            </a:r>
          </a:p>
          <a:p>
            <a:pPr algn="l">
              <a:spcBef>
                <a:spcPts val="300"/>
              </a:spcBef>
            </a:pPr>
            <a:r>
              <a:rPr lang="en-US" sz="900" dirty="0">
                <a:solidFill>
                  <a:srgbClr val="1F6FD6"/>
                </a:solidFill>
              </a:rPr>
              <a:t>https://github.com/palcnetworks/Path-Trace/blob/main/pathtrace</a:t>
            </a:r>
            <a:r>
              <a:rPr lang="en-US" sz="900" b="0" i="0" dirty="0">
                <a:solidFill>
                  <a:srgbClr val="1F6FD6"/>
                </a:solidFill>
                <a:latin typeface="Arial"/>
              </a:rPr>
              <a:t>/</a:t>
            </a:r>
            <a:r>
              <a:rPr lang="en-US" sz="900" dirty="0">
                <a:solidFill>
                  <a:srgbClr val="1F6FD6"/>
                </a:solidFill>
              </a:rPr>
              <a:t>docs</a:t>
            </a:r>
            <a:r>
              <a:rPr lang="en-US" sz="900" b="0" i="0" dirty="0">
                <a:solidFill>
                  <a:srgbClr val="1F6FD6"/>
                </a:solidFill>
                <a:latin typeface="Arial"/>
              </a:rPr>
              <a:t>/pathtrace-hld.md</a:t>
            </a:r>
            <a:endParaRPr lang="en-US" dirty="0"/>
          </a:p>
        </p:txBody>
      </p:sp>
      <p:sp>
        <p:nvSpPr>
          <p:cNvPr id="10" name="Rounded Rectangle 9"/>
          <p:cNvSpPr/>
          <p:nvPr/>
        </p:nvSpPr>
        <p:spPr>
          <a:xfrm>
            <a:off x="365760" y="361188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22225">
            <a:solidFill>
              <a:srgbClr val="2E9E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675887"/>
            <a:ext cx="1828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 i="0">
                <a:solidFill>
                  <a:srgbClr val="5B6778"/>
                </a:solidFill>
                <a:latin typeface="Arial"/>
              </a:rPr>
              <a:t>STATUS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886200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 i="0">
                <a:solidFill>
                  <a:srgbClr val="2E9E68"/>
                </a:solidFill>
                <a:latin typeface="Arial"/>
              </a:rPr>
              <a:t>Completed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977695"/>
            <a:ext cx="5623560" cy="14619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50" b="0" i="0">
                <a:solidFill>
                  <a:srgbClr val="1B2635"/>
                </a:solidFill>
                <a:latin typeface="Arial"/>
              </a:rPr>
              <a:t>Tracer, instance-level matching, --deps, --audit and SAE packaging are implemented.</a:t>
            </a:r>
            <a:endParaRPr lang="en-US" sz="950" b="0" i="0">
              <a:solidFill>
                <a:srgbClr val="1B2635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Simple Light</vt:lpstr>
      <vt:lpstr>PathTrace: Datapath Intent Tracing for SONiC</vt:lpstr>
      <vt:lpstr>Problem statement</vt:lpstr>
      <vt:lpstr>Solution approach: one intent in, root cause out</vt:lpstr>
      <vt:lpstr>Architecture</vt:lpstr>
      <vt:lpstr>What's new for SONiC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</cp:revision>
  <dcterms:modified xsi:type="dcterms:W3CDTF">2026-10-01T13:39:05Z</dcterms:modified>
</cp:coreProperties>
</file>